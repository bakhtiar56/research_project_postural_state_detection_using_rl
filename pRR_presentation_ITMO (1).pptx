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66" r:id="rId15"/>
    <p:sldId id="267" r:id="rId16"/>
    <p:sldId id="268" r:id="rId17"/>
  </p:sldIdLst>
  <p:sldSz cx="12192000" cy="6858000"/>
  <p:notesSz cx="6858000" cy="9144000"/>
  <p:embeddedFontLst>
    <p:embeddedFont>
      <p:font typeface="Golos Text" panose="020B0604020202020204" charset="0"/>
      <p:regular r:id="rId19"/>
      <p:bold r:id="rId20"/>
    </p:embeddedFont>
    <p:embeddedFont>
      <p:font typeface="Golos Text SemiBold" panose="020B0604020202020204" charset="0"/>
      <p:regular r:id="rId21"/>
      <p:bold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ImPeyYmYCNnQVc1sbnm2Gbjgx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6B21E1-70BE-4170-ADDC-B6ECAF09B133}">
  <a:tblStyle styleId="{3C6B21E1-70BE-4170-ADDC-B6ECAF09B1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b30fa2c2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g3b30fa2c2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" name="Google Shape;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30ea3ceee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g3a30ea3cee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30fa2c26e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3b30fa2c26e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1524000" y="2490281"/>
            <a:ext cx="9144000" cy="147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los Text SemiBold"/>
              <a:buNone/>
              <a:defRPr sz="24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5805890" y="4175394"/>
            <a:ext cx="5871990" cy="227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7"/>
          <p:cNvSpPr txBox="1"/>
          <p:nvPr/>
        </p:nvSpPr>
        <p:spPr>
          <a:xfrm>
            <a:off x="1524000" y="12308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olos Text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01.04.02 </a:t>
            </a:r>
            <a:r>
              <a:rPr lang="ru-RU"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Прикладная математика и информатика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dt" idx="10"/>
          </p:nvPr>
        </p:nvSpPr>
        <p:spPr>
          <a:xfrm>
            <a:off x="42153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лайд">
  <p:cSld name="Финальный слайд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/>
        </p:nvSpPr>
        <p:spPr>
          <a:xfrm>
            <a:off x="1981200" y="22590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os Text SemiBold"/>
              <a:buNone/>
            </a:pPr>
            <a:r>
              <a:rPr lang="ru-RU" sz="6000" b="1" i="0" u="none" strike="noStrike" cap="non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Спасибо</a:t>
            </a:r>
            <a:br>
              <a:rPr lang="ru-RU" sz="6000" b="1" i="0" u="none" strike="noStrike" cap="non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</a:br>
            <a:r>
              <a:rPr lang="ru-RU" sz="6000" b="1" i="0" u="none" strike="noStrike" cap="non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за внимание!</a:t>
            </a:r>
            <a:endParaRPr sz="6000" b="1" i="0" u="none" strike="noStrike" cap="none">
              <a:solidFill>
                <a:srgbClr val="FFFFFF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b30fa2c26e_0_34"/>
          <p:cNvSpPr txBox="1"/>
          <p:nvPr/>
        </p:nvSpPr>
        <p:spPr>
          <a:xfrm>
            <a:off x="6797888" y="653699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b30fa2c26e_0_34"/>
          <p:cNvSpPr txBox="1"/>
          <p:nvPr/>
        </p:nvSpPr>
        <p:spPr>
          <a:xfrm>
            <a:off x="7881068" y="569652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b30fa2c26e_0_34"/>
          <p:cNvSpPr txBox="1"/>
          <p:nvPr/>
        </p:nvSpPr>
        <p:spPr>
          <a:xfrm>
            <a:off x="6797888" y="653699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b30fa2c26e_0_34"/>
          <p:cNvSpPr txBox="1"/>
          <p:nvPr/>
        </p:nvSpPr>
        <p:spPr>
          <a:xfrm>
            <a:off x="7881068" y="569652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b30fa2c26e_0_34"/>
          <p:cNvSpPr txBox="1">
            <a:spLocks noGrp="1"/>
          </p:cNvSpPr>
          <p:nvPr>
            <p:ph type="title"/>
          </p:nvPr>
        </p:nvSpPr>
        <p:spPr>
          <a:xfrm>
            <a:off x="609600" y="408580"/>
            <a:ext cx="9099300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Golos Text SemiBold"/>
              <a:buNone/>
              <a:defRPr sz="43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30fa2c26e_0_34"/>
          <p:cNvSpPr txBox="1">
            <a:spLocks noGrp="1"/>
          </p:cNvSpPr>
          <p:nvPr>
            <p:ph type="body" idx="1"/>
          </p:nvPr>
        </p:nvSpPr>
        <p:spPr>
          <a:xfrm>
            <a:off x="609599" y="1386883"/>
            <a:ext cx="11185500" cy="4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rm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marL="2743200" lvl="5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30fa2c26e_0_73"/>
          <p:cNvSpPr txBox="1">
            <a:spLocks noGrp="1"/>
          </p:cNvSpPr>
          <p:nvPr>
            <p:ph type="body" idx="1"/>
          </p:nvPr>
        </p:nvSpPr>
        <p:spPr>
          <a:xfrm>
            <a:off x="832151" y="1644953"/>
            <a:ext cx="9560100" cy="45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os Text"/>
              <a:buNone/>
              <a:defRPr sz="21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os Text"/>
              <a:buNone/>
              <a:defRPr sz="21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os Text"/>
              <a:buNone/>
              <a:defRPr sz="21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os Text"/>
              <a:buNone/>
              <a:defRPr sz="2100"/>
            </a:lvl5pPr>
            <a:lvl6pPr marL="2743200" lvl="5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b30fa2c26e_0_73"/>
          <p:cNvSpPr txBox="1">
            <a:spLocks noGrp="1"/>
          </p:cNvSpPr>
          <p:nvPr>
            <p:ph type="title"/>
          </p:nvPr>
        </p:nvSpPr>
        <p:spPr>
          <a:xfrm>
            <a:off x="609600" y="408580"/>
            <a:ext cx="9099300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Golos Text SemiBold"/>
              <a:buNone/>
              <a:defRPr sz="43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khtiar56/Research_Project_Postural_State_Detection_using_R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b30fa2c26e_0_0"/>
          <p:cNvSpPr txBox="1">
            <a:spLocks noGrp="1"/>
          </p:cNvSpPr>
          <p:nvPr>
            <p:ph type="ctrTitle" idx="4294967295"/>
          </p:nvPr>
        </p:nvSpPr>
        <p:spPr>
          <a:xfrm>
            <a:off x="1524000" y="2490281"/>
            <a:ext cx="91440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los Text SemiBold"/>
              <a:buNone/>
            </a:pPr>
            <a:r>
              <a:rPr lang="ru-RU">
                <a:solidFill>
                  <a:schemeClr val="lt1"/>
                </a:solidFill>
              </a:rPr>
              <a:t>The Proxy Romberg Ratio in Repeated-Trial Stabilometry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" name="Google Shape;42;g3b30fa2c26e_0_0"/>
          <p:cNvSpPr txBox="1">
            <a:spLocks noGrp="1"/>
          </p:cNvSpPr>
          <p:nvPr>
            <p:ph type="subTitle" idx="4294967295"/>
          </p:nvPr>
        </p:nvSpPr>
        <p:spPr>
          <a:xfrm>
            <a:off x="6936099" y="4383000"/>
            <a:ext cx="5140500" cy="22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>Student: </a:t>
            </a:r>
            <a:br>
              <a:rPr lang="ru-RU" sz="1800">
                <a:solidFill>
                  <a:schemeClr val="lt1"/>
                </a:solidFill>
              </a:rPr>
            </a:br>
            <a:r>
              <a:rPr lang="ru-RU" sz="1800">
                <a:solidFill>
                  <a:schemeClr val="lt1"/>
                </a:solidFill>
              </a:rPr>
              <a:t>[Student Name, Group]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>Scientific Supervisor: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>[Supervisor Name, title]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>Scientific Advisor: 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>[Advisor Name, title]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3" name="Google Shape;43;g3b30fa2c26e_0_0"/>
          <p:cNvSpPr txBox="1"/>
          <p:nvPr/>
        </p:nvSpPr>
        <p:spPr>
          <a:xfrm>
            <a:off x="1589625" y="1084500"/>
            <a:ext cx="94413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2"/>
                </a:solidFill>
                <a:latin typeface="Golos Text"/>
                <a:ea typeface="Golos Text"/>
                <a:cs typeface="Golos Text"/>
                <a:sym typeface="Golos Text"/>
              </a:rPr>
              <a:t>01.04.02 Applied Mathematics and Computer Science</a:t>
            </a:r>
            <a:endParaRPr sz="1800">
              <a:solidFill>
                <a:schemeClr val="lt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Statement of the Problem</a:t>
            </a: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body" idx="1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The Romberg test</a:t>
            </a:r>
            <a:r>
              <a:rPr lang="en-US" sz="1800" dirty="0"/>
              <a:t> quantifies postural control by comparing sway with eyes open (EO) and eyes closed (EC). In quantitative </a:t>
            </a:r>
            <a:r>
              <a:rPr lang="en-US" sz="1800" dirty="0" err="1"/>
              <a:t>posturography</a:t>
            </a:r>
            <a:r>
              <a:rPr lang="en-US" sz="1800" dirty="0"/>
              <a:t> it is reported as a </a:t>
            </a:r>
            <a:r>
              <a:rPr lang="en-US" sz="1800" b="1" dirty="0"/>
              <a:t>ratio</a:t>
            </a:r>
            <a:r>
              <a:rPr lang="en-US" sz="1800" dirty="0"/>
              <a:t> of a center-of-pressure (CoP) sway measure — path length, sway velocity, or sway area.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00" b="1" dirty="0"/>
              <a:t>The problem: on repeated trials the ratio is not a single number.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dirty="0"/>
              <a:t>Ratio of means, mean of paired ratios, and robust (bootstrap) estimators give </a:t>
            </a:r>
            <a:r>
              <a:rPr lang="en-US" sz="1800" b="1" dirty="0"/>
              <a:t>different values for the same data</a:t>
            </a:r>
            <a:r>
              <a:rPr lang="en-US" sz="1800" dirty="0"/>
              <a:t>, and stability depends on which CoP feature is chosen — yet the estimator is rarely reported.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00" b="1" dirty="0"/>
              <a:t>Why the scientific track?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dirty="0"/>
              <a:t>This ambiguity undermines the </a:t>
            </a:r>
            <a:r>
              <a:rPr lang="en-US" sz="1800" b="1" dirty="0"/>
              <a:t>reproducibility and cross-study comparability</a:t>
            </a:r>
            <a:r>
              <a:rPr lang="en-US" sz="1800" dirty="0"/>
              <a:t> of a widely used clinical index. Resolving it needs explicit estimator definitions and a reliability/validity analysis — a methodological contribution, not a new device.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B5552D"/>
                </a:solidFill>
              </a:rPr>
              <a:t>Data note: </a:t>
            </a:r>
            <a:r>
              <a:rPr lang="en-US" sz="1800" dirty="0"/>
              <a:t>the available dataset has no EO/EC condition, so we study a transparent </a:t>
            </a:r>
            <a:r>
              <a:rPr lang="en-US" sz="1800" b="1" dirty="0"/>
              <a:t>proxy</a:t>
            </a:r>
            <a:r>
              <a:rPr lang="en-US" sz="1800" dirty="0"/>
              <a:t> Romberg ratio (high- vs low-sway trials within one condition) and state plainly that it is not a physiological Romberg ratio.</a:t>
            </a: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421957" y="572326"/>
            <a:ext cx="9218700" cy="6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Purpose and Objectives</a:t>
            </a:r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body" idx="1"/>
          </p:nvPr>
        </p:nvSpPr>
        <p:spPr>
          <a:xfrm>
            <a:off x="421950" y="1478741"/>
            <a:ext cx="11348100" cy="50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Purpose:</a:t>
            </a:r>
            <a:r>
              <a:rPr lang="en-US" sz="1800" dirty="0"/>
              <a:t> determine how the choice of estimator affects the repeated-trial Romberg coefficient, and whether a reliable, low-dimensional individual profile can be recovered from it.</a:t>
            </a:r>
            <a:endParaRPr sz="3200" dirty="0"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500" b="1" dirty="0"/>
              <a:t>Objectives</a:t>
            </a:r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sz="1800" dirty="0"/>
          </a:p>
          <a:p>
            <a:pPr marL="34290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1" dirty="0" err="1"/>
              <a:t>Formalise</a:t>
            </a:r>
            <a:r>
              <a:rPr lang="en-US" sz="1800" b="1" dirty="0"/>
              <a:t> and compare four repeated-trial estimators</a:t>
            </a:r>
            <a:r>
              <a:rPr lang="en-US" sz="1800" dirty="0"/>
              <a:t> — ratio of means, mean of paired ratios, bootstrap median, and geometric mean — and quantify their disagreement.</a:t>
            </a:r>
            <a:endParaRPr sz="1800" dirty="0"/>
          </a:p>
          <a:p>
            <a:pPr marL="34290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1" dirty="0"/>
              <a:t>Quantify reliability and generalizability</a:t>
            </a:r>
            <a:r>
              <a:rPr lang="en-US" sz="1800" dirty="0"/>
              <a:t> with ICC, Cronbach’s α, SEM/SDC, and generalizability theory.</a:t>
            </a:r>
            <a:endParaRPr sz="1800" dirty="0"/>
          </a:p>
          <a:p>
            <a:pPr marL="34290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1" dirty="0"/>
              <a:t>Test latent structure and individual profiles</a:t>
            </a:r>
            <a:r>
              <a:rPr lang="en-US" sz="1800" dirty="0"/>
              <a:t> via PCA, a one-factor model, k-means clustering, and the adjusted Rand index.</a:t>
            </a:r>
            <a:endParaRPr sz="1800" dirty="0"/>
          </a:p>
          <a:p>
            <a:pPr marL="34290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1" dirty="0"/>
              <a:t>Derive standardization recommendations</a:t>
            </a:r>
            <a:r>
              <a:rPr lang="en-US" sz="1800" dirty="0"/>
              <a:t> for reporting Romberg-type indices in research and clinical practice.</a:t>
            </a: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Review of Similar Solutions/Research</a:t>
            </a:r>
            <a:endParaRPr/>
          </a:p>
        </p:txBody>
      </p:sp>
      <p:sp>
        <p:nvSpPr>
          <p:cNvPr id="63" name="Google Shape;63;p4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body" idx="1"/>
          </p:nvPr>
        </p:nvSpPr>
        <p:spPr>
          <a:xfrm>
            <a:off x="421950" y="1337826"/>
            <a:ext cx="11348100" cy="53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Prior work supplies the building blocks but not a unified treatment of repeated-trial Romberg estimation.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Prieto et al. (1996), IEEE TBME.</a:t>
            </a:r>
            <a:r>
              <a:rPr lang="en-US" sz="1800" dirty="0"/>
              <a:t> </a:t>
            </a:r>
            <a:r>
              <a:rPr lang="en-US" sz="1800" dirty="0" err="1"/>
              <a:t>Standardised</a:t>
            </a:r>
            <a:r>
              <a:rPr lang="en-US" sz="1800" dirty="0"/>
              <a:t> CoP </a:t>
            </a:r>
            <a:r>
              <a:rPr lang="en-US" sz="1800" dirty="0" err="1"/>
              <a:t>posturography</a:t>
            </a:r>
            <a:r>
              <a:rPr lang="en-US" sz="1800" dirty="0"/>
              <a:t> measures.  </a:t>
            </a:r>
            <a:r>
              <a:rPr lang="en-US" sz="1800" b="1" dirty="0"/>
              <a:t>Limitation: </a:t>
            </a:r>
            <a:r>
              <a:rPr lang="en-US" sz="1800" dirty="0"/>
              <a:t>single-condition; no repeated-trial ratio estimation.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 err="1"/>
              <a:t>Grokhovsky</a:t>
            </a:r>
            <a:r>
              <a:rPr lang="en-US" sz="1800" b="1" dirty="0"/>
              <a:t> &amp; </a:t>
            </a:r>
            <a:r>
              <a:rPr lang="en-US" sz="1800" b="1" dirty="0" err="1"/>
              <a:t>Kubryak</a:t>
            </a:r>
            <a:r>
              <a:rPr lang="en-US" sz="1800" b="1" dirty="0"/>
              <a:t> (2018).</a:t>
            </a:r>
            <a:r>
              <a:rPr lang="en-US" sz="1800" dirty="0"/>
              <a:t> Integral energy-expenditure index from CoP kinematics.  </a:t>
            </a:r>
            <a:r>
              <a:rPr lang="en-US" sz="1800" b="1" dirty="0"/>
              <a:t>Limitation: </a:t>
            </a:r>
            <a:r>
              <a:rPr lang="en-US" sz="1800" dirty="0"/>
              <a:t>absolute index, not a reliability framework.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Bland &amp; Altman (1986); Shrout &amp; Fleiss (1979); Cronbach (1951); Brennan (2001).</a:t>
            </a:r>
            <a:r>
              <a:rPr lang="en-US" sz="1800" dirty="0"/>
              <a:t> Agreement, ICC, internal consistency, and generalizability theory.  </a:t>
            </a:r>
            <a:r>
              <a:rPr lang="en-US" sz="1800" b="1" dirty="0"/>
              <a:t>Limitation: </a:t>
            </a:r>
            <a:r>
              <a:rPr lang="en-US" sz="1800" dirty="0"/>
              <a:t>never combined for repeated-trial Romberg estimators.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B5552D"/>
                </a:solidFill>
              </a:rPr>
              <a:t>Research gap: </a:t>
            </a:r>
            <a:r>
              <a:rPr lang="en-US" sz="1800" dirty="0"/>
              <a:t>no prior work systematically compares repeated-trial Romberg estimators and quantifies their reliability and latent structure.</a:t>
            </a: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Research Methods and Tools</a:t>
            </a:r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525156" y="1502354"/>
            <a:ext cx="11348100" cy="50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Methods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Per-trial CoP feature extraction</a:t>
            </a:r>
            <a:r>
              <a:rPr lang="en-US" sz="1800" dirty="0"/>
              <a:t> — 24 measures (amplitude, geometry, velocity, frequency, complexity) plus the </a:t>
            </a:r>
            <a:r>
              <a:rPr lang="en-US" sz="1800" dirty="0" err="1"/>
              <a:t>Grokhovsky</a:t>
            </a:r>
            <a:r>
              <a:rPr lang="en-US" sz="1800" dirty="0"/>
              <a:t>–</a:t>
            </a:r>
            <a:r>
              <a:rPr lang="en-US" sz="1800" dirty="0" err="1"/>
              <a:t>Kubryak</a:t>
            </a:r>
            <a:r>
              <a:rPr lang="en-US" sz="1800" dirty="0"/>
              <a:t> energy index.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Proxy design</a:t>
            </a:r>
            <a:r>
              <a:rPr lang="en-US" sz="1800" dirty="0"/>
              <a:t> — per-subject median split into 5 low- vs 5 high-sway trials (5 paired ratios).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Four estimators</a:t>
            </a:r>
            <a:r>
              <a:rPr lang="en-US" sz="1800" dirty="0"/>
              <a:t> + Bland–Altman agreement on ln(</a:t>
            </a:r>
            <a:r>
              <a:rPr lang="en-US" sz="1800" dirty="0" err="1"/>
              <a:t>pRR</a:t>
            </a:r>
            <a:r>
              <a:rPr lang="en-US" sz="1800" dirty="0"/>
              <a:t>).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Reliability &amp; structure</a:t>
            </a:r>
            <a:r>
              <a:rPr lang="en-US" sz="1800" dirty="0"/>
              <a:t> — Cronbach’s α, PCA, one-factor model, ICC(2,1), SEM/SDC, two-facet generalizability theory, bootstrap.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Clustering</a:t>
            </a:r>
            <a:r>
              <a:rPr lang="en-US" sz="1800" dirty="0"/>
              <a:t> — k-means with adjusted-Rand stability across estimators and split-features.</a:t>
            </a: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b="1" dirty="0"/>
              <a:t>Tools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Python — </a:t>
            </a:r>
            <a:r>
              <a:rPr lang="en-US" sz="1800" dirty="0"/>
              <a:t>pandas, NumPy, SciPy, scikit-learn, </a:t>
            </a:r>
            <a:r>
              <a:rPr lang="en-US" sz="1800" dirty="0" err="1"/>
              <a:t>PyArrow</a:t>
            </a:r>
            <a:r>
              <a:rPr lang="en-US" sz="1800" dirty="0"/>
              <a:t>, matplotlib.  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Data: </a:t>
            </a:r>
            <a:r>
              <a:rPr lang="en-US" sz="1800" dirty="0"/>
              <a:t>internal CoP dataset (SQLite metadata + Parquet time series; 250 Hz, 30 s trials).</a:t>
            </a: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>
            <a:spLocks noGrp="1"/>
          </p:cNvSpPr>
          <p:nvPr>
            <p:ph type="title"/>
          </p:nvPr>
        </p:nvSpPr>
        <p:spPr>
          <a:xfrm>
            <a:off x="421907" y="448001"/>
            <a:ext cx="9218700" cy="6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 dirty="0"/>
              <a:t>Scientific </a:t>
            </a:r>
            <a:r>
              <a:rPr lang="ru-RU" dirty="0" err="1"/>
              <a:t>Novelty</a:t>
            </a:r>
            <a:r>
              <a:rPr lang="ru-RU" dirty="0"/>
              <a:t> (</a:t>
            </a:r>
            <a:r>
              <a:rPr lang="ru-RU" dirty="0" err="1"/>
              <a:t>assessed</a:t>
            </a:r>
            <a:r>
              <a:rPr lang="ru-RU" dirty="0"/>
              <a:t> </a:t>
            </a:r>
            <a:r>
              <a:rPr lang="ru-RU" dirty="0" err="1"/>
              <a:t>on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basis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a </a:t>
            </a:r>
            <a:r>
              <a:rPr lang="ru-RU" dirty="0" err="1"/>
              <a:t>scientific</a:t>
            </a:r>
            <a:r>
              <a:rPr lang="ru-RU" dirty="0"/>
              <a:t> </a:t>
            </a:r>
            <a:r>
              <a:rPr lang="ru-RU" dirty="0" err="1"/>
              <a:t>project</a:t>
            </a:r>
            <a:r>
              <a:rPr lang="ru-RU" dirty="0"/>
              <a:t>)</a:t>
            </a:r>
            <a:endParaRPr dirty="0"/>
          </a:p>
        </p:txBody>
      </p:sp>
      <p:sp>
        <p:nvSpPr>
          <p:cNvPr id="77" name="Google Shape;77;p6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78" name="Google Shape;78;p6"/>
          <p:cNvSpPr txBox="1">
            <a:spLocks noGrp="1"/>
          </p:cNvSpPr>
          <p:nvPr>
            <p:ph type="body" idx="1"/>
          </p:nvPr>
        </p:nvSpPr>
        <p:spPr>
          <a:xfrm>
            <a:off x="421956" y="1634141"/>
            <a:ext cx="11348100" cy="50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The project is novel in four ways within the context of existing research.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First explicit mathematical comparison</a:t>
            </a:r>
            <a:r>
              <a:rPr lang="en-US" sz="1800" dirty="0"/>
              <a:t> of repeated-trial Romberg estimators, with disagreement quantified by Bland–Altman analysis on the log scale.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Joint reliability and generalizability treatment</a:t>
            </a:r>
            <a:r>
              <a:rPr lang="en-US" sz="1800" dirty="0"/>
              <a:t> of a Romberg-type index — showing single-trial ratios are only fairly reliable while multi-trial aggregates are good.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A near-unidimensional curated battery</a:t>
            </a:r>
            <a:r>
              <a:rPr lang="en-US" sz="1800" dirty="0"/>
              <a:t> and reproducible individual profiles, stable across estimators and labelling rules.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A transparent proxy framing</a:t>
            </a:r>
            <a:r>
              <a:rPr lang="en-US" sz="1800" dirty="0"/>
              <a:t> and a concrete standardization recommendation (geometric mean on the log scale).</a:t>
            </a:r>
            <a:endParaRPr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The Solution Flow </a:t>
            </a:r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body" idx="1"/>
          </p:nvPr>
        </p:nvSpPr>
        <p:spPr>
          <a:xfrm>
            <a:off x="421956" y="1375141"/>
            <a:ext cx="5900000" cy="51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From data to paired ratios</a:t>
            </a:r>
            <a:endParaRPr lang="en-US" sz="1800" dirty="0"/>
          </a:p>
          <a:p>
            <a:pPr marL="28575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Inclusion.</a:t>
            </a:r>
            <a:r>
              <a:rPr lang="en-US" sz="1800" dirty="0"/>
              <a:t> 124 subjects → 85 with free-condition trials → </a:t>
            </a:r>
            <a:r>
              <a:rPr lang="en-US" sz="1800" b="1" dirty="0"/>
              <a:t>80</a:t>
            </a:r>
            <a:r>
              <a:rPr lang="en-US" sz="1800" dirty="0"/>
              <a:t> with ≥10 trials (balanced 5+5 design). 250 Hz, 30 s (~7500 samples).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Features.</a:t>
            </a:r>
            <a:r>
              <a:rPr lang="en-US" sz="1800" dirty="0"/>
              <a:t> 24 per-trial CoP measures across six families; energy index in the exact </a:t>
            </a:r>
            <a:r>
              <a:rPr lang="en-US" sz="1800" dirty="0" err="1"/>
              <a:t>Grokhovsky</a:t>
            </a:r>
            <a:r>
              <a:rPr lang="en-US" sz="1800" dirty="0"/>
              <a:t>–</a:t>
            </a:r>
            <a:r>
              <a:rPr lang="en-US" sz="1800" dirty="0" err="1"/>
              <a:t>Kubryak</a:t>
            </a:r>
            <a:r>
              <a:rPr lang="en-US" sz="1800" dirty="0"/>
              <a:t> form.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Proxy labelling.</a:t>
            </a:r>
            <a:r>
              <a:rPr lang="en-US" sz="1800" dirty="0"/>
              <a:t> Per-subject median split of a sway feature → 5 LOW vs 5 HIGH trials → five paired </a:t>
            </a:r>
            <a:r>
              <a:rPr lang="en-US" sz="1800" dirty="0" err="1"/>
              <a:t>trialwise</a:t>
            </a:r>
            <a:r>
              <a:rPr lang="en-US" sz="1800" dirty="0"/>
              <a:t> ratios Ri.</a:t>
            </a: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endParaRPr lang="en-US"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A7F8F"/>
                </a:solidFill>
              </a:rPr>
              <a:t>Right: </a:t>
            </a:r>
            <a:r>
              <a:rPr lang="en-US" sz="1800" dirty="0"/>
              <a:t>a low-sway and a high-sway trial from one subject (95% ellipses) — the contrast the median split encodes.</a:t>
            </a:r>
          </a:p>
        </p:txBody>
      </p:sp>
      <p:pic>
        <p:nvPicPr>
          <p:cNvPr id="901" name="CoP examp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000" y="2050000"/>
            <a:ext cx="5050000" cy="3121137"/>
          </a:xfrm>
          <a:prstGeom prst="rect">
            <a:avLst/>
          </a:prstGeom>
          <a:ln>
            <a:solidFill>
              <a:srgbClr val="D6DEE2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>
            <a:spLocks noGrp="1"/>
          </p:cNvSpPr>
          <p:nvPr>
            <p:ph type="title"/>
          </p:nvPr>
        </p:nvSpPr>
        <p:spPr>
          <a:xfrm>
            <a:off x="359375" y="501200"/>
            <a:ext cx="9844800" cy="6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The Solution Flow (continued)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body" idx="1"/>
          </p:nvPr>
        </p:nvSpPr>
        <p:spPr>
          <a:xfrm>
            <a:off x="421906" y="1592691"/>
            <a:ext cx="5900000" cy="50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Estimators and statistical pipeline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Estimators.</a:t>
            </a:r>
            <a:r>
              <a:rPr lang="en-US" sz="1800" dirty="0"/>
              <a:t> A = mean(HIGH)/mean(LOW); B = mean of Ri; C = bootstrap median; D = geometric mean exp(mean ln Ri).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Agreement.</a:t>
            </a:r>
            <a:r>
              <a:rPr lang="en-US" sz="1800" dirty="0"/>
              <a:t> Bland–Altman on ln(</a:t>
            </a:r>
            <a:r>
              <a:rPr lang="en-US" sz="1800" dirty="0" err="1"/>
              <a:t>pRR</a:t>
            </a:r>
            <a:r>
              <a:rPr lang="en-US" sz="1800" dirty="0"/>
              <a:t>) against A: bias, limits of agreement, MSE (right).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Structure &amp; reliability.</a:t>
            </a:r>
            <a:r>
              <a:rPr lang="en-US" sz="1800" dirty="0"/>
              <a:t> Cronbach’s α, PCA / one-factor model; ICC, SEM/SDC, generalizability theory; k-means + ARI.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Robustness.</a:t>
            </a:r>
            <a:r>
              <a:rPr lang="en-US" sz="1800" dirty="0"/>
              <a:t> The whole pipeline is repeated across five split-features.</a:t>
            </a:r>
            <a:endParaRPr sz="1800" dirty="0"/>
          </a:p>
        </p:txBody>
      </p:sp>
      <p:pic>
        <p:nvPicPr>
          <p:cNvPr id="902" name="Bland-Altm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00" y="2550000"/>
            <a:ext cx="5500000" cy="2538532"/>
          </a:xfrm>
          <a:prstGeom prst="rect">
            <a:avLst/>
          </a:prstGeom>
          <a:ln>
            <a:solidFill>
              <a:srgbClr val="D6DEE2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Key Results: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421956" y="1157516"/>
            <a:ext cx="11348100" cy="55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Estimator choice measurably changes the ratio.</a:t>
            </a:r>
            <a:r>
              <a:rPr lang="en-US" sz="1800" dirty="0"/>
              <a:t> The geometric mean D tracks the conventional ratio of means (</a:t>
            </a:r>
            <a:r>
              <a:rPr lang="en-US" sz="1800" dirty="0" err="1"/>
              <a:t>MSEln</a:t>
            </a:r>
            <a:r>
              <a:rPr lang="en-US" sz="1800" dirty="0"/>
              <a:t> ≈ 0.011–0.012, SD ≈ 0.11); the bootstrap median is ~2× more dispersed.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Near-unidimensional curated battery.</a:t>
            </a:r>
            <a:r>
              <a:rPr lang="en-US" sz="1800" dirty="0"/>
              <a:t> PC1 explains ≈ 96–98% of variance; a one-factor model reconstructs it with RMSE ≈ 0.20.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Reliability.</a:t>
            </a:r>
            <a:r>
              <a:rPr lang="en-US" sz="1800" dirty="0"/>
              <a:t> Single trial is only fair (ICC ≈ 0.37–0.43); the 5-trial mean is good (Cronbach α ≈ 0.76–0.80); generalizability Eρ² = 0.76.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Two reproducible profiles.</a:t>
            </a:r>
            <a:r>
              <a:rPr lang="en-US" sz="1800" dirty="0"/>
              <a:t> k = 2 throughout; recovered across estimators and split-features (ARI up to 1.0).</a:t>
            </a: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B5552D"/>
                </a:solidFill>
              </a:rPr>
              <a:t>Open repository: </a:t>
            </a:r>
            <a:r>
              <a:rPr lang="en-US" sz="1800" dirty="0"/>
              <a:t>[</a:t>
            </a:r>
            <a:r>
              <a:rPr lang="en-US" sz="1800" dirty="0" err="1">
                <a:hlinkClick r:id="rId3"/>
              </a:rPr>
              <a:t>github</a:t>
            </a:r>
            <a:r>
              <a:rPr lang="en-US" sz="1800" dirty="0"/>
              <a:t>— analysis code, experiments, and a formatted README; to fill]</a:t>
            </a:r>
            <a:endParaRPr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30ea3ceee_0_18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700" cy="6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Key Results: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06" name="Google Shape;106;g3a30ea3ceee_0_18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107" name="Google Shape;107;g3a30ea3ceee_0_18"/>
          <p:cNvSpPr txBox="1">
            <a:spLocks noGrp="1"/>
          </p:cNvSpPr>
          <p:nvPr>
            <p:ph type="body" idx="1"/>
          </p:nvPr>
        </p:nvSpPr>
        <p:spPr>
          <a:xfrm>
            <a:off x="421956" y="1157516"/>
            <a:ext cx="11348100" cy="55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Reliability, generalizability, and subject profiles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A7F8F"/>
                </a:solidFill>
              </a:rPr>
              <a:t>Left:</a:t>
            </a:r>
            <a:r>
              <a:rPr lang="en-US" sz="1800" dirty="0"/>
              <a:t> single-trial vs 5-trial reliability and the generalizability variance split (</a:t>
            </a:r>
            <a:r>
              <a:rPr lang="en-US" sz="1800" dirty="0" err="1"/>
              <a:t>subject×trial</a:t>
            </a:r>
            <a:r>
              <a:rPr lang="en-US" sz="1800" dirty="0"/>
              <a:t> dominates, 39%; G = 0.76).    </a:t>
            </a:r>
          </a:p>
          <a:p>
            <a:pPr marL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A7F8F"/>
                </a:solidFill>
              </a:rPr>
              <a:t>Right:</a:t>
            </a:r>
            <a:r>
              <a:rPr lang="en-US" sz="1800" dirty="0"/>
              <a:t> two subject clusters separate cleanly along PC1.</a:t>
            </a:r>
            <a:endParaRPr sz="1800" dirty="0"/>
          </a:p>
        </p:txBody>
      </p:sp>
      <p:pic>
        <p:nvPicPr>
          <p:cNvPr id="903" name="Reliabil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2" y="2445616"/>
            <a:ext cx="5800000" cy="1966768"/>
          </a:xfrm>
          <a:prstGeom prst="rect">
            <a:avLst/>
          </a:prstGeom>
          <a:ln>
            <a:solidFill>
              <a:srgbClr val="D6DEE2"/>
            </a:solidFill>
          </a:ln>
        </p:spPr>
      </p:pic>
      <p:pic>
        <p:nvPicPr>
          <p:cNvPr id="904" name="PCA clust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269" y="2445616"/>
            <a:ext cx="5050000" cy="2264574"/>
          </a:xfrm>
          <a:prstGeom prst="rect">
            <a:avLst/>
          </a:prstGeom>
          <a:ln>
            <a:solidFill>
              <a:srgbClr val="D6DEE2"/>
            </a:solidFill>
          </a:ln>
        </p:spPr>
      </p:pic>
      <p:sp>
        <p:nvSpPr>
          <p:cNvPr id="905" name="tb905"/>
          <p:cNvSpPr txBox="1"/>
          <p:nvPr/>
        </p:nvSpPr>
        <p:spPr>
          <a:xfrm>
            <a:off x="421532" y="5045618"/>
            <a:ext cx="11348100" cy="800000"/>
          </a:xfrm>
          <a:prstGeom prst="rect">
            <a:avLst/>
          </a:prstGeom>
          <a:noFill/>
        </p:spPr>
        <p:txBody>
          <a:bodyPr wrap="square" lIns="91425" tIns="45700" rIns="91425" bIns="45700" anchor="t"/>
          <a:lstStyle/>
          <a:p>
            <a:pPr algn="l">
              <a:buNone/>
            </a:pPr>
            <a:r>
              <a:rPr lang="en-US" sz="1800" i="1" dirty="0"/>
              <a:t>The same two-profile partition recurs across all five split-features — evidence of a genuine person-level property, not a labelling artifact.</a:t>
            </a:r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Key Results: estimator agreement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421956" y="1140000"/>
            <a:ext cx="113481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Bland–Altman agreement of each estimator against A (ratio of group means), on ln(</a:t>
            </a:r>
            <a:r>
              <a:rPr lang="en-US" sz="1800" dirty="0" err="1"/>
              <a:t>pRR</a:t>
            </a:r>
            <a:r>
              <a:rPr lang="en-US" sz="1800" dirty="0"/>
              <a:t>).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/>
              <a:t>N = 80, 24 measures per split-feature; lower = closer to the conventional ratio.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MSE = mean squared log-difference, SD = limits-of-agreement dispersion. D (geometric mean) is the most stable nontrivial estimator; C (bootstrap median) the most dispersed.</a:t>
            </a:r>
            <a:endParaRPr sz="1800" dirty="0"/>
          </a:p>
        </p:txBody>
      </p:sp>
      <p:graphicFrame>
        <p:nvGraphicFramePr>
          <p:cNvPr id="920" name="Agreement"/>
          <p:cNvGraphicFramePr/>
          <p:nvPr/>
        </p:nvGraphicFramePr>
        <p:xfrm>
          <a:off x="430000" y="2520000"/>
          <a:ext cx="11296000" cy="2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Split feature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MSE (B)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SD (B)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MSE (C)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SD (C)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MSE (D)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SD (D)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</a:rPr>
                        <a:t>ellipse_area95_m2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0.0041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0.0529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0.0454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0.2124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0.0123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0.1100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</a:rPr>
                        <a:t>mean_speed_mps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0.0048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0.0586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0.0398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0.1987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0.0113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0.1056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</a:rPr>
                        <a:t>path_length_m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0.0048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0.0586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0.0398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0.1987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0.0113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0.1056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</a:rPr>
                        <a:t>rms_total_m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0.0061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0.0664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0.0442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0.2098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0.0122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0.1094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</a:rPr>
                        <a:t>speed_p95_mps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0.0051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0.0599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0.0370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0.1917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0.0107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0.1029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Key Results: reliability &amp; generalizability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421956" y="1140000"/>
            <a:ext cx="11348100" cy="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Trial-level reliability of the proxy Romberg ratio (primary split, N = 80, balanced 5×5, on ln R).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/>
              <a:t>ICC(2,1)</a:t>
            </a:r>
            <a:r>
              <a:rPr lang="en-US" sz="1800" dirty="0"/>
              <a:t> single-trial reliability; </a:t>
            </a:r>
            <a:r>
              <a:rPr lang="en-US" sz="1800" b="1" dirty="0"/>
              <a:t>α₅</a:t>
            </a:r>
            <a:r>
              <a:rPr lang="en-US" sz="1800" dirty="0"/>
              <a:t> Cronbach’s alpha of the 5-trial mean; SEM, SDC in ln units;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CV within-subject variation (variant D); VC contrast fraction 1−1/R.</a:t>
            </a:r>
            <a:endParaRPr sz="1800" dirty="0"/>
          </a:p>
        </p:txBody>
      </p:sp>
      <p:graphicFrame>
        <p:nvGraphicFramePr>
          <p:cNvPr id="921" name="Reliability"/>
          <p:cNvGraphicFramePr/>
          <p:nvPr/>
        </p:nvGraphicFramePr>
        <p:xfrm>
          <a:off x="430000" y="2280000"/>
          <a:ext cx="11298000" cy="2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ICC(2,1)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α₅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SEM (ln)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SDC (ln)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CV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VC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</a:rPr>
                        <a:t>Mean speed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0.43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0.80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0.26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0.71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0.24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0.31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</a:rPr>
                        <a:t>Path length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0.43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0.80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0.26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0.71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0.24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0.31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</a:rPr>
                        <a:t>Mean accel.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0.40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0.78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0.24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0.66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0.22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0.26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</a:rPr>
                        <a:t>Energy index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0.37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0.76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0.57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1.57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0.47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0.48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</a:rPr>
                        <a:t>Speed P95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0.37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0.76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0.29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0.82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0.27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0.32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22" name="tb922"/>
          <p:cNvSpPr txBox="1"/>
          <p:nvPr/>
        </p:nvSpPr>
        <p:spPr>
          <a:xfrm>
            <a:off x="430000" y="4640000"/>
            <a:ext cx="11300000" cy="340000"/>
          </a:xfrm>
          <a:prstGeom prst="rect">
            <a:avLst/>
          </a:prstGeom>
          <a:noFill/>
        </p:spPr>
        <p:txBody>
          <a:bodyPr wrap="square" lIns="0" tIns="9000" rIns="0" bIns="9000" anchor="t"/>
          <a:lstStyle/>
          <a:p>
            <a:pPr algn="l">
              <a:buNone/>
            </a:pPr>
            <a:r>
              <a:rPr lang="en-US" sz="1250" b="1">
                <a:solidFill>
                  <a:srgbClr val="1B2A4A"/>
                </a:solidFill>
              </a:rPr>
              <a:t>Generalizability — variance components (% of total),  </a:t>
            </a:r>
            <a:r>
              <a:rPr lang="en-US" sz="1250" b="1">
                <a:solidFill>
                  <a:srgbClr val="B5552D"/>
                </a:solidFill>
              </a:rPr>
              <a:t>Eρ² = 0.76</a:t>
            </a:r>
            <a:r>
              <a:rPr lang="en-US" sz="1250">
                <a:solidFill>
                  <a:srgbClr val="1B2A4A"/>
                </a:solidFill>
              </a:rPr>
              <a:t>  (5 measures × 5 trials)</a:t>
            </a:r>
            <a:endParaRPr/>
          </a:p>
        </p:txBody>
      </p:sp>
      <p:graphicFrame>
        <p:nvGraphicFramePr>
          <p:cNvPr id="923" name="Gtheory"/>
          <p:cNvGraphicFramePr/>
          <p:nvPr/>
        </p:nvGraphicFramePr>
        <p:xfrm>
          <a:off x="430000" y="5040000"/>
          <a:ext cx="1032000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Subject (p)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p × t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Measure (m)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Residual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p × m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Trial (t)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m × t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1B2A4A"/>
                          </a:solidFill>
                        </a:rPr>
                        <a:t>29%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39%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13%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11%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5%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4%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1B2A4A"/>
                          </a:solidFill>
                        </a:rPr>
                        <a:t>0.4%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4" name="tb924"/>
          <p:cNvSpPr txBox="1"/>
          <p:nvPr/>
        </p:nvSpPr>
        <p:spPr>
          <a:xfrm>
            <a:off x="430000" y="5980000"/>
            <a:ext cx="11300000" cy="600000"/>
          </a:xfrm>
          <a:prstGeom prst="rect">
            <a:avLst/>
          </a:prstGeom>
          <a:noFill/>
        </p:spPr>
        <p:txBody>
          <a:bodyPr wrap="square" lIns="0" tIns="9000" rIns="0" bIns="9000" anchor="t"/>
          <a:lstStyle/>
          <a:p>
            <a:pPr algn="l">
              <a:buNone/>
            </a:pPr>
            <a:r>
              <a:rPr lang="en-US" sz="1800" i="1" dirty="0">
                <a:solidFill>
                  <a:srgbClr val="5B6B7A"/>
                </a:solidFill>
              </a:rPr>
              <a:t>The </a:t>
            </a:r>
            <a:r>
              <a:rPr lang="en-US" sz="1800" i="1" dirty="0" err="1">
                <a:solidFill>
                  <a:srgbClr val="5B6B7A"/>
                </a:solidFill>
              </a:rPr>
              <a:t>subject×trial</a:t>
            </a:r>
            <a:r>
              <a:rPr lang="en-US" sz="1800" i="1" dirty="0">
                <a:solidFill>
                  <a:srgbClr val="5B6B7A"/>
                </a:solidFill>
              </a:rPr>
              <a:t> interaction dominates the variance — trial-to-trial variability is the main noise source, which is why a single ratio is only fairly reliable while the 5-trial aggregate is good.</a:t>
            </a:r>
            <a:endParaRPr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Key Results: consistency, dimensionality &amp; clustering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421956" y="1140000"/>
            <a:ext cx="113481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Across split-features (N = 80).  </a:t>
            </a:r>
            <a:r>
              <a:rPr lang="en-US" sz="1800" b="1" dirty="0"/>
              <a:t>α</a:t>
            </a:r>
            <a:r>
              <a:rPr lang="en-US" sz="1800" dirty="0"/>
              <a:t> Cronbach’s alpha;  </a:t>
            </a:r>
            <a:r>
              <a:rPr lang="en-US" sz="1800" b="1" dirty="0"/>
              <a:t>PC1</a:t>
            </a:r>
            <a:r>
              <a:rPr lang="en-US" sz="1800" dirty="0"/>
              <a:t> first-component variance;  </a:t>
            </a:r>
            <a:r>
              <a:rPr lang="en-US" sz="1800" b="1" dirty="0"/>
              <a:t>k</a:t>
            </a:r>
            <a:r>
              <a:rPr lang="en-US" sz="1800" dirty="0"/>
              <a:t> silhouette-selected clusters;  </a:t>
            </a:r>
            <a:r>
              <a:rPr lang="en-US" sz="1800" b="1" dirty="0" err="1"/>
              <a:t>sil</a:t>
            </a:r>
            <a:r>
              <a:rPr lang="en-US" sz="1800" dirty="0"/>
              <a:t> silhouette;  </a:t>
            </a:r>
            <a:r>
              <a:rPr lang="en-US" sz="1800" b="1" dirty="0"/>
              <a:t>ARI</a:t>
            </a:r>
            <a:r>
              <a:rPr lang="en-US" sz="1800" dirty="0"/>
              <a:t> adjusted Rand index of each estimator’s clustering vs D.  (all = 24-measure battery; cur = curated 5-measure battery.)</a:t>
            </a:r>
            <a:endParaRPr sz="1800" dirty="0"/>
          </a:p>
        </p:txBody>
      </p:sp>
      <p:graphicFrame>
        <p:nvGraphicFramePr>
          <p:cNvPr id="925" name="Clustering"/>
          <p:cNvGraphicFramePr/>
          <p:nvPr/>
        </p:nvGraphicFramePr>
        <p:xfrm>
          <a:off x="430000" y="2520000"/>
          <a:ext cx="11310000" cy="2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3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3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Split feature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α (all)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PC1 (all)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α (cur)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PC1 (cur)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solidFill>
                            <a:srgbClr val="FFFFFF"/>
                          </a:solidFill>
                        </a:rPr>
                        <a:t>sil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ARI (A)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ARI (B)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ARI (C)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1B2A4A"/>
                          </a:solidFill>
                        </a:rPr>
                        <a:t>ellipse_area95_m2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0.948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0.598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0.964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0.975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2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0.578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0.808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0.901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0.719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1B2A4A"/>
                          </a:solidFill>
                        </a:rPr>
                        <a:t>mean_speed_mps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0.946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0.564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0.960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0.960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2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0.505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0.854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1.000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0.557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1B2A4A"/>
                          </a:solidFill>
                        </a:rPr>
                        <a:t>path_length_m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0.946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0.564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0.960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0.960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2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0.505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0.854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1.000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0.557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1B2A4A"/>
                          </a:solidFill>
                        </a:rPr>
                        <a:t>rms_total_m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0.951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0.608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0.965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0.977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2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0.558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0.853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0.901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0.520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1B2A4A"/>
                          </a:solidFill>
                        </a:rPr>
                        <a:t>speed_p95_mps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0.949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0.569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0.960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0.960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2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0.501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0.854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>
                          <a:solidFill>
                            <a:srgbClr val="1B2A4A"/>
                          </a:solidFill>
                        </a:rPr>
                        <a:t>1.000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dirty="0">
                          <a:solidFill>
                            <a:srgbClr val="1B2A4A"/>
                          </a:solidFill>
                        </a:rPr>
                        <a:t>0.719</a:t>
                      </a:r>
                    </a:p>
                  </a:txBody>
                  <a:tcPr marL="32000" marR="32000" marT="14000" marB="14000" anchor="ctr">
                    <a:lnL w="6350" cap="flat">
                      <a:solidFill>
                        <a:srgbClr val="C9D3DC"/>
                      </a:solidFill>
                    </a:lnL>
                    <a:lnR w="6350" cap="flat">
                      <a:solidFill>
                        <a:srgbClr val="C9D3DC"/>
                      </a:solidFill>
                    </a:lnR>
                    <a:lnT w="6350" cap="flat">
                      <a:solidFill>
                        <a:srgbClr val="C9D3DC"/>
                      </a:solidFill>
                    </a:lnT>
                    <a:lnB w="6350" cap="flat">
                      <a:solidFill>
                        <a:srgbClr val="C9D3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Expected Results / Next Steps</a:t>
            </a:r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body" idx="1"/>
          </p:nvPr>
        </p:nvSpPr>
        <p:spPr>
          <a:xfrm>
            <a:off x="421906" y="1426941"/>
            <a:ext cx="11348100" cy="50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Planned extensions (second semester) and publication.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External validation</a:t>
            </a:r>
            <a:r>
              <a:rPr lang="en-US" sz="1800" dirty="0"/>
              <a:t> against an annotated EO/EC dataset — relate the proxy to the physiological Romberg ratio.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Hierarchical Bayesian model</a:t>
            </a:r>
            <a:r>
              <a:rPr lang="en-US" sz="1800" dirty="0"/>
              <a:t> — partial pooling to </a:t>
            </a:r>
            <a:r>
              <a:rPr lang="en-US" sz="1800" dirty="0" err="1"/>
              <a:t>stabilise</a:t>
            </a:r>
            <a:r>
              <a:rPr lang="en-US" sz="1800" dirty="0"/>
              <a:t> noisy per-subject estimates and propagate uncertainty.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Trial-count guidance</a:t>
            </a:r>
            <a:r>
              <a:rPr lang="en-US" sz="1800" dirty="0"/>
              <a:t> from generalizability theory — how many trials a target reliability requires.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Publication</a:t>
            </a:r>
            <a:r>
              <a:rPr lang="en-US" sz="1800" dirty="0"/>
              <a:t> — submit the manuscript to a peer-reviewed journal (e.g., Sensors) within three months.</a:t>
            </a:r>
            <a:endParaRPr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Conclusion</a:t>
            </a:r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body" idx="1"/>
          </p:nvPr>
        </p:nvSpPr>
        <p:spPr>
          <a:xfrm>
            <a:off x="421525" y="1491775"/>
            <a:ext cx="11348100" cy="41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The proxy Romberg ratio is estimator-dependent — but its latent structure is robust.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dirty="0"/>
              <a:t>Recommend the </a:t>
            </a:r>
            <a:r>
              <a:rPr lang="en-US" sz="1800" b="1" dirty="0"/>
              <a:t>geometric mean on the log scale</a:t>
            </a:r>
            <a:r>
              <a:rPr lang="en-US" sz="1800" dirty="0"/>
              <a:t>, a small curated battery, and explicit reporting of the estimator and the trial count.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Single-trial reliability is only fair</a:t>
            </a:r>
            <a:r>
              <a:rPr lang="en-US" sz="1800" dirty="0"/>
              <a:t>, so several trials must be aggregated (Eρ² = 0.76 at five trials).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Two reproducible subject profiles</a:t>
            </a:r>
            <a:r>
              <a:rPr lang="en-US" sz="1800" dirty="0"/>
              <a:t> emerge, stable across estimators and split-features.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b="1" dirty="0"/>
              <a:t>Deliverables: </a:t>
            </a:r>
            <a:r>
              <a:rPr lang="en-US" sz="1800" dirty="0"/>
              <a:t>open code repository, journal-template preprint, and this presentation.</a:t>
            </a:r>
            <a:endParaRPr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30fa2c26e_0_41"/>
          <p:cNvSpPr txBox="1">
            <a:spLocks noGrp="1"/>
          </p:cNvSpPr>
          <p:nvPr>
            <p:ph type="title"/>
          </p:nvPr>
        </p:nvSpPr>
        <p:spPr>
          <a:xfrm>
            <a:off x="609600" y="2051125"/>
            <a:ext cx="10972800" cy="16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Golos Text SemiBold"/>
              <a:buNone/>
            </a:pPr>
            <a:r>
              <a:rPr lang="ru-RU" sz="5900"/>
              <a:t>THANK YOU</a:t>
            </a:r>
            <a:br>
              <a:rPr lang="ru-RU" sz="5900"/>
            </a:br>
            <a:r>
              <a:rPr lang="ru-RU" sz="5900"/>
              <a:t>FOR YOUR TIME!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1820</Words>
  <Application>Microsoft Office PowerPoint</Application>
  <PresentationFormat>Широкоэкранный</PresentationFormat>
  <Paragraphs>270</Paragraphs>
  <Slides>16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Golos Text</vt:lpstr>
      <vt:lpstr>Montserrat</vt:lpstr>
      <vt:lpstr>Calibri</vt:lpstr>
      <vt:lpstr>Golos Text SemiBold</vt:lpstr>
      <vt:lpstr>Arial</vt:lpstr>
      <vt:lpstr>Тема Office</vt:lpstr>
      <vt:lpstr>The Proxy Romberg Ratio in Repeated-Trial Stabilometry</vt:lpstr>
      <vt:lpstr>Statement of the Problem</vt:lpstr>
      <vt:lpstr>Purpose and Objectives</vt:lpstr>
      <vt:lpstr>Review of Similar Solutions/Research</vt:lpstr>
      <vt:lpstr>Research Methods and Tools</vt:lpstr>
      <vt:lpstr>Scientific Novelty (assessed on the basis of a scientific project)</vt:lpstr>
      <vt:lpstr>The Solution Flow </vt:lpstr>
      <vt:lpstr>The Solution Flow (continued) </vt:lpstr>
      <vt:lpstr>Key Results:</vt:lpstr>
      <vt:lpstr>Key Results:</vt:lpstr>
      <vt:lpstr>Key Results: estimator agreement</vt:lpstr>
      <vt:lpstr>Key Results: reliability &amp; generalizability</vt:lpstr>
      <vt:lpstr>Key Results: consistency, dimensionality &amp; clustering</vt:lpstr>
      <vt:lpstr>Expected Results / Next Steps</vt:lpstr>
      <vt:lpstr>Conclusion</vt:lpstr>
      <vt:lpstr>THANK YOU FOR YOUR TIME!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Цветкова Екатерина Андреевна</dc:creator>
  <cp:lastModifiedBy>Рашид Бахтиар</cp:lastModifiedBy>
  <cp:revision>1</cp:revision>
  <dcterms:created xsi:type="dcterms:W3CDTF">2025-10-08T10:34:53Z</dcterms:created>
  <dcterms:modified xsi:type="dcterms:W3CDTF">2026-06-18T12:43:35Z</dcterms:modified>
</cp:coreProperties>
</file>